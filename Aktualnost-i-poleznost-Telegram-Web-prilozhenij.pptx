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7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8229600" cx="14630400"/>
  <p:notesSz cx="8229600" cy="14630400"/>
  <p:embeddedFontLst>
    <p:embeddedFont>
      <p:font typeface="Montserrat"/>
      <p:regular r:id="rId13"/>
      <p:bold r:id="rId14"/>
      <p:italic r:id="rId15"/>
      <p:boldItalic r:id="rId16"/>
    </p:embeddedFont>
    <p:embeddedFont>
      <p:font typeface="Barlow"/>
      <p:bold r:id="rId17"/>
      <p:boldItalic r:id="rId18"/>
    </p:embeddedFont>
    <p:embeddedFont>
      <p:font typeface="Barlow Light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BarlowLight-bold.fntdata"/><Relationship Id="rId11" Type="http://schemas.openxmlformats.org/officeDocument/2006/relationships/slide" Target="slides/slide7.xml"/><Relationship Id="rId22" Type="http://schemas.openxmlformats.org/officeDocument/2006/relationships/font" Target="fonts/BarlowLight-boldItalic.fntdata"/><Relationship Id="rId10" Type="http://schemas.openxmlformats.org/officeDocument/2006/relationships/slide" Target="slides/slide6.xml"/><Relationship Id="rId21" Type="http://schemas.openxmlformats.org/officeDocument/2006/relationships/font" Target="fonts/BarlowLight-italic.fntdata"/><Relationship Id="rId13" Type="http://schemas.openxmlformats.org/officeDocument/2006/relationships/font" Target="fonts/Montserrat-regular.fntdata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Montserrat-italic.fntdata"/><Relationship Id="rId14" Type="http://schemas.openxmlformats.org/officeDocument/2006/relationships/font" Target="fonts/Montserrat-bold.fntdata"/><Relationship Id="rId17" Type="http://schemas.openxmlformats.org/officeDocument/2006/relationships/font" Target="fonts/Barlow-bold.fntdata"/><Relationship Id="rId16" Type="http://schemas.openxmlformats.org/officeDocument/2006/relationships/font" Target="fonts/Montserrat-boldItalic.fntdata"/><Relationship Id="rId5" Type="http://schemas.openxmlformats.org/officeDocument/2006/relationships/slide" Target="slides/slide1.xml"/><Relationship Id="rId19" Type="http://schemas.openxmlformats.org/officeDocument/2006/relationships/font" Target="fonts/BarlowLight-regular.fntdata"/><Relationship Id="rId6" Type="http://schemas.openxmlformats.org/officeDocument/2006/relationships/slide" Target="slides/slide2.xml"/><Relationship Id="rId18" Type="http://schemas.openxmlformats.org/officeDocument/2006/relationships/font" Target="fonts/Barlow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" name="Google Shape;4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4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4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4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4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" name="Google Shape;1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2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5" name="Google Shape;15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3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9" name="Google Shape;19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" name="Google Shape;21;p4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3" name="Google Shape;23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" name="Google Shape;25;p5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7" name="Google Shape;27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" name="Google Shape;29;p6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1" name="Google Shape;31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" name="Google Shape;33;p7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5" name="Google Shape;35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" name="Google Shape;37;p8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9" name="Google Shape;39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" name="Google Shape;41;p9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0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Relationship Id="rId4" Type="http://schemas.openxmlformats.org/officeDocument/2006/relationships/image" Target="../media/image22.png"/><Relationship Id="rId5" Type="http://schemas.openxmlformats.org/officeDocument/2006/relationships/image" Target="../media/image10.png"/><Relationship Id="rId6" Type="http://schemas.openxmlformats.org/officeDocument/2006/relationships/image" Target="../media/image9.png"/><Relationship Id="rId7" Type="http://schemas.openxmlformats.org/officeDocument/2006/relationships/image" Target="../media/image3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2.png"/><Relationship Id="rId4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7.png"/><Relationship Id="rId4" Type="http://schemas.openxmlformats.org/officeDocument/2006/relationships/image" Target="../media/image37.png"/><Relationship Id="rId5" Type="http://schemas.openxmlformats.org/officeDocument/2006/relationships/image" Target="../media/image25.png"/><Relationship Id="rId6" Type="http://schemas.openxmlformats.org/officeDocument/2006/relationships/image" Target="../media/image3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5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8.png"/><Relationship Id="rId7" Type="http://schemas.openxmlformats.org/officeDocument/2006/relationships/image" Target="../media/image3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8" name="Google Shape;4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69680" y="0"/>
            <a:ext cx="576072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11"/>
          <p:cNvSpPr/>
          <p:nvPr/>
        </p:nvSpPr>
        <p:spPr>
          <a:xfrm>
            <a:off x="758309" y="2824282"/>
            <a:ext cx="7627382" cy="21381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42"/>
              </a:lnSpc>
              <a:spcBef>
                <a:spcPts val="0"/>
              </a:spcBef>
              <a:spcAft>
                <a:spcPts val="0"/>
              </a:spcAft>
              <a:buClr>
                <a:srgbClr val="2E3C4E"/>
              </a:buClr>
              <a:buSzPts val="4450"/>
              <a:buFont typeface="Barlow"/>
              <a:buNone/>
            </a:pPr>
            <a:r>
              <a:rPr b="1" i="0" lang="en-US" sz="4450" u="none" cap="none" strike="noStrike">
                <a:solidFill>
                  <a:srgbClr val="2E3C4E"/>
                </a:solidFill>
                <a:latin typeface="Barlow"/>
                <a:ea typeface="Barlow"/>
                <a:cs typeface="Barlow"/>
                <a:sym typeface="Barlow"/>
              </a:rPr>
              <a:t>Актуальность и полезность Telegram Web-приложений</a:t>
            </a:r>
            <a:endParaRPr b="0" i="0" sz="4450" u="none" cap="none" strike="noStrike"/>
          </a:p>
        </p:txBody>
      </p:sp>
      <p:sp>
        <p:nvSpPr>
          <p:cNvPr id="50" name="Google Shape;50;p11"/>
          <p:cNvSpPr/>
          <p:nvPr/>
        </p:nvSpPr>
        <p:spPr>
          <a:xfrm>
            <a:off x="758309" y="5048964"/>
            <a:ext cx="2850713" cy="356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/>
              <a:buNone/>
            </a:pPr>
            <a:r>
              <a:t/>
            </a:r>
            <a:endParaRPr b="0" i="0" sz="2200" u="none" cap="none" strike="noStrik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6" name="Google Shape;5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69680" y="0"/>
            <a:ext cx="576072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2"/>
          <p:cNvSpPr/>
          <p:nvPr/>
        </p:nvSpPr>
        <p:spPr>
          <a:xfrm>
            <a:off x="709613" y="725210"/>
            <a:ext cx="7724775" cy="13339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E3C4E"/>
              </a:buClr>
              <a:buSzPts val="4200"/>
              <a:buFont typeface="Barlow"/>
              <a:buNone/>
            </a:pPr>
            <a:r>
              <a:rPr b="1" i="0" lang="en-US" sz="4200" u="none" cap="none" strike="noStrike">
                <a:solidFill>
                  <a:srgbClr val="2E3C4E"/>
                </a:solidFill>
                <a:latin typeface="Barlow"/>
                <a:ea typeface="Barlow"/>
                <a:cs typeface="Barlow"/>
                <a:sym typeface="Barlow"/>
              </a:rPr>
              <a:t>Что такое Telegram Web Apps?</a:t>
            </a:r>
            <a:endParaRPr b="0" i="0" sz="4200" u="none" cap="none" strike="noStrike"/>
          </a:p>
        </p:txBody>
      </p:sp>
      <p:sp>
        <p:nvSpPr>
          <p:cNvPr id="58" name="Google Shape;58;p12"/>
          <p:cNvSpPr/>
          <p:nvPr/>
        </p:nvSpPr>
        <p:spPr>
          <a:xfrm>
            <a:off x="709613" y="2667357"/>
            <a:ext cx="3760946" cy="2494002"/>
          </a:xfrm>
          <a:prstGeom prst="roundRect">
            <a:avLst>
              <a:gd fmla="val 44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9" name="Google Shape;59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9613" y="2644497"/>
            <a:ext cx="3760946" cy="91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0" name="Google Shape;60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85940" y="2363272"/>
            <a:ext cx="608290" cy="6082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1" name="Google Shape;61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468463" y="2545675"/>
            <a:ext cx="243245" cy="243245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2"/>
          <p:cNvSpPr/>
          <p:nvPr/>
        </p:nvSpPr>
        <p:spPr>
          <a:xfrm>
            <a:off x="935236" y="3174206"/>
            <a:ext cx="3309699" cy="6669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2100"/>
              <a:buFont typeface="Barlow"/>
              <a:buNone/>
            </a:pPr>
            <a:r>
              <a:rPr b="1" i="0" lang="en-US" sz="2100" u="none" cap="none" strike="noStrike">
                <a:solidFill>
                  <a:srgbClr val="384653"/>
                </a:solidFill>
                <a:latin typeface="Barlow"/>
                <a:ea typeface="Barlow"/>
                <a:cs typeface="Barlow"/>
                <a:sym typeface="Barlow"/>
              </a:rPr>
              <a:t>Веб-приложения внутри Telegram</a:t>
            </a:r>
            <a:endParaRPr b="0" i="0" sz="2100" u="none" cap="none" strike="noStrike"/>
          </a:p>
        </p:txBody>
      </p:sp>
      <p:sp>
        <p:nvSpPr>
          <p:cNvPr id="63" name="Google Shape;63;p12"/>
          <p:cNvSpPr/>
          <p:nvPr/>
        </p:nvSpPr>
        <p:spPr>
          <a:xfrm>
            <a:off x="935236" y="3962757"/>
            <a:ext cx="3309699" cy="9729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4516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550"/>
              <a:buFont typeface="Montserrat"/>
              <a:buNone/>
            </a:pPr>
            <a:r>
              <a:rPr b="0" i="0" lang="en-US" sz="155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Работают прямо в мессенджере без установки дополнительных программ.</a:t>
            </a:r>
            <a:endParaRPr b="0" i="0" sz="1550" u="none" cap="none" strike="noStrike"/>
          </a:p>
        </p:txBody>
      </p:sp>
      <p:sp>
        <p:nvSpPr>
          <p:cNvPr id="64" name="Google Shape;64;p12"/>
          <p:cNvSpPr/>
          <p:nvPr/>
        </p:nvSpPr>
        <p:spPr>
          <a:xfrm>
            <a:off x="4673322" y="2667357"/>
            <a:ext cx="3761065" cy="2494002"/>
          </a:xfrm>
          <a:prstGeom prst="roundRect">
            <a:avLst>
              <a:gd fmla="val 44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5" name="Google Shape;65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73322" y="2644497"/>
            <a:ext cx="3761065" cy="91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6" name="Google Shape;66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49650" y="2363272"/>
            <a:ext cx="608290" cy="6082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7" name="Google Shape;67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32173" y="2545675"/>
            <a:ext cx="243245" cy="243245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2"/>
          <p:cNvSpPr/>
          <p:nvPr/>
        </p:nvSpPr>
        <p:spPr>
          <a:xfrm>
            <a:off x="4898946" y="3174206"/>
            <a:ext cx="2808327" cy="3334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2100"/>
              <a:buFont typeface="Barlow"/>
              <a:buNone/>
            </a:pPr>
            <a:r>
              <a:rPr b="1" i="0" lang="en-US" sz="2100" u="none" cap="none" strike="noStrike">
                <a:solidFill>
                  <a:srgbClr val="384653"/>
                </a:solidFill>
                <a:latin typeface="Barlow"/>
                <a:ea typeface="Barlow"/>
                <a:cs typeface="Barlow"/>
                <a:sym typeface="Barlow"/>
              </a:rPr>
              <a:t>Мгновенный запуск</a:t>
            </a:r>
            <a:endParaRPr b="0" i="0" sz="2100" u="none" cap="none" strike="noStrike"/>
          </a:p>
        </p:txBody>
      </p:sp>
      <p:sp>
        <p:nvSpPr>
          <p:cNvPr id="69" name="Google Shape;69;p12"/>
          <p:cNvSpPr/>
          <p:nvPr/>
        </p:nvSpPr>
        <p:spPr>
          <a:xfrm>
            <a:off x="4898946" y="3629263"/>
            <a:ext cx="3309818" cy="9729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4516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550"/>
              <a:buFont typeface="Montserrat"/>
              <a:buNone/>
            </a:pPr>
            <a:r>
              <a:rPr b="0" i="0" lang="en-US" sz="155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Через бота или специальную кнопку — доступ к сервису в один клик.</a:t>
            </a:r>
            <a:endParaRPr b="0" i="0" sz="1550" u="none" cap="none" strike="noStrike"/>
          </a:p>
        </p:txBody>
      </p:sp>
      <p:sp>
        <p:nvSpPr>
          <p:cNvPr id="70" name="Google Shape;70;p12"/>
          <p:cNvSpPr/>
          <p:nvPr/>
        </p:nvSpPr>
        <p:spPr>
          <a:xfrm>
            <a:off x="709613" y="5668208"/>
            <a:ext cx="7724775" cy="1836182"/>
          </a:xfrm>
          <a:prstGeom prst="roundRect">
            <a:avLst>
              <a:gd fmla="val 597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1" name="Google Shape;71;p1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09613" y="5645348"/>
            <a:ext cx="7724775" cy="91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2" name="Google Shape;72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67855" y="5364123"/>
            <a:ext cx="608290" cy="6082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3" name="Google Shape;73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450378" y="5546527"/>
            <a:ext cx="243245" cy="243245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2"/>
          <p:cNvSpPr/>
          <p:nvPr/>
        </p:nvSpPr>
        <p:spPr>
          <a:xfrm>
            <a:off x="935236" y="6175058"/>
            <a:ext cx="4174093" cy="3334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2100"/>
              <a:buFont typeface="Barlow"/>
              <a:buNone/>
            </a:pPr>
            <a:r>
              <a:rPr b="1" i="0" lang="en-US" sz="2100" u="none" cap="none" strike="noStrike">
                <a:solidFill>
                  <a:srgbClr val="384653"/>
                </a:solidFill>
                <a:latin typeface="Barlow"/>
                <a:ea typeface="Barlow"/>
                <a:cs typeface="Barlow"/>
                <a:sym typeface="Barlow"/>
              </a:rPr>
              <a:t>Стандартные веб-технологии</a:t>
            </a:r>
            <a:endParaRPr b="0" i="0" sz="2100" u="none" cap="none" strike="noStrike"/>
          </a:p>
        </p:txBody>
      </p:sp>
      <p:sp>
        <p:nvSpPr>
          <p:cNvPr id="75" name="Google Shape;75;p12"/>
          <p:cNvSpPr/>
          <p:nvPr/>
        </p:nvSpPr>
        <p:spPr>
          <a:xfrm>
            <a:off x="935236" y="6630114"/>
            <a:ext cx="7273528" cy="6486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4516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550"/>
              <a:buFont typeface="Montserrat"/>
              <a:buNone/>
            </a:pPr>
            <a:r>
              <a:rPr b="0" i="0" lang="en-US" sz="155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Используют HTML, JS, CSS и Telegram API для создания функционала.</a:t>
            </a:r>
            <a:endParaRPr b="0" i="0" sz="1550" u="none" cap="none" strike="noStrik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/>
          <p:nvPr/>
        </p:nvSpPr>
        <p:spPr>
          <a:xfrm>
            <a:off x="758309" y="880824"/>
            <a:ext cx="12107942" cy="712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42"/>
              </a:lnSpc>
              <a:spcBef>
                <a:spcPts val="0"/>
              </a:spcBef>
              <a:spcAft>
                <a:spcPts val="0"/>
              </a:spcAft>
              <a:buClr>
                <a:srgbClr val="2E3C4E"/>
              </a:buClr>
              <a:buSzPts val="4450"/>
              <a:buFont typeface="Barlow"/>
              <a:buNone/>
            </a:pPr>
            <a:r>
              <a:rPr b="1" i="0" lang="en-US" sz="4450" u="none" cap="none" strike="noStrike">
                <a:solidFill>
                  <a:srgbClr val="2E3C4E"/>
                </a:solidFill>
                <a:latin typeface="Barlow"/>
                <a:ea typeface="Barlow"/>
                <a:cs typeface="Barlow"/>
                <a:sym typeface="Barlow"/>
              </a:rPr>
              <a:t>Почему Telegram Web Apps востребованы?</a:t>
            </a:r>
            <a:endParaRPr b="0" i="0" sz="4450" u="none" cap="none" strike="noStrike"/>
          </a:p>
        </p:txBody>
      </p:sp>
      <p:pic>
        <p:nvPicPr>
          <p:cNvPr descr="preencoded.png" id="82" name="Google Shape;8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8309" y="2162175"/>
            <a:ext cx="6292572" cy="4942761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3"/>
          <p:cNvSpPr/>
          <p:nvPr/>
        </p:nvSpPr>
        <p:spPr>
          <a:xfrm>
            <a:off x="7587139" y="2113359"/>
            <a:ext cx="6292572" cy="693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700"/>
              <a:buFont typeface="Montserrat"/>
              <a:buNone/>
            </a:pPr>
            <a:r>
              <a:rPr b="1" i="0" lang="en-US" sz="17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950+ млн пользователей</a:t>
            </a:r>
            <a:r>
              <a:rPr b="0" i="0" lang="en-US" sz="17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 Telegram по всему миру (2024)</a:t>
            </a:r>
            <a:endParaRPr b="0" i="0" sz="1700" u="none" cap="none" strike="noStrike"/>
          </a:p>
        </p:txBody>
      </p:sp>
      <p:sp>
        <p:nvSpPr>
          <p:cNvPr id="84" name="Google Shape;84;p13"/>
          <p:cNvSpPr/>
          <p:nvPr/>
        </p:nvSpPr>
        <p:spPr>
          <a:xfrm>
            <a:off x="7587139" y="2882503"/>
            <a:ext cx="6292572" cy="693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700"/>
              <a:buFont typeface="Montserrat"/>
              <a:buNone/>
            </a:pPr>
            <a:r>
              <a:rPr b="1" i="0" lang="en-US" sz="17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Экономия места и времени:</a:t>
            </a:r>
            <a:r>
              <a:rPr b="0" i="0" lang="en-US" sz="17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 не нужно скачивать отдельные приложения</a:t>
            </a:r>
            <a:endParaRPr b="0" i="0" sz="1700" u="none" cap="none" strike="noStrike"/>
          </a:p>
        </p:txBody>
      </p:sp>
      <p:sp>
        <p:nvSpPr>
          <p:cNvPr id="85" name="Google Shape;85;p13"/>
          <p:cNvSpPr/>
          <p:nvPr/>
        </p:nvSpPr>
        <p:spPr>
          <a:xfrm>
            <a:off x="7587139" y="3651647"/>
            <a:ext cx="6292572" cy="693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700"/>
              <a:buFont typeface="Montserrat"/>
              <a:buNone/>
            </a:pPr>
            <a:r>
              <a:rPr b="1" i="0" lang="en-US" sz="17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Кроссплатформенность:</a:t>
            </a:r>
            <a:r>
              <a:rPr b="0" i="0" lang="en-US" sz="17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 работают на iOS, Android и ПК одинаково удобно</a:t>
            </a:r>
            <a:endParaRPr b="0" i="0" sz="1700" u="none" cap="none" strike="noStrike"/>
          </a:p>
        </p:txBody>
      </p:sp>
      <p:sp>
        <p:nvSpPr>
          <p:cNvPr id="86" name="Google Shape;86;p13"/>
          <p:cNvSpPr/>
          <p:nvPr/>
        </p:nvSpPr>
        <p:spPr>
          <a:xfrm>
            <a:off x="7587139" y="4420791"/>
            <a:ext cx="6292572" cy="693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700"/>
              <a:buFont typeface="Montserrat"/>
              <a:buNone/>
            </a:pPr>
            <a:r>
              <a:rPr b="1" i="0" lang="en-US" sz="17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Интеграция:</a:t>
            </a:r>
            <a:r>
              <a:rPr b="0" i="0" lang="en-US" sz="17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 платежи, боты, уведомления прямо в мессенджере</a:t>
            </a:r>
            <a:endParaRPr b="0" i="0" sz="1700" u="none" cap="none" strike="noStrike"/>
          </a:p>
        </p:txBody>
      </p:sp>
      <p:sp>
        <p:nvSpPr>
          <p:cNvPr id="87" name="Google Shape;87;p13"/>
          <p:cNvSpPr/>
          <p:nvPr/>
        </p:nvSpPr>
        <p:spPr>
          <a:xfrm>
            <a:off x="12865825" y="7739600"/>
            <a:ext cx="1764600" cy="489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69680" y="0"/>
            <a:ext cx="576072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/>
          <p:nvPr/>
        </p:nvSpPr>
        <p:spPr>
          <a:xfrm>
            <a:off x="586621" y="864275"/>
            <a:ext cx="7970758" cy="1102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637"/>
              </a:lnSpc>
              <a:spcBef>
                <a:spcPts val="0"/>
              </a:spcBef>
              <a:spcAft>
                <a:spcPts val="0"/>
              </a:spcAft>
              <a:buClr>
                <a:srgbClr val="2E3C4E"/>
              </a:buClr>
              <a:buSzPts val="3450"/>
              <a:buFont typeface="Barlow"/>
              <a:buNone/>
            </a:pPr>
            <a:r>
              <a:rPr b="1" i="0" lang="en-US" sz="3450" u="none" cap="none" strike="noStrike">
                <a:solidFill>
                  <a:srgbClr val="2E3C4E"/>
                </a:solidFill>
                <a:latin typeface="Barlow"/>
                <a:ea typeface="Barlow"/>
                <a:cs typeface="Barlow"/>
                <a:sym typeface="Barlow"/>
              </a:rPr>
              <a:t>Telegram веб-календарь: что это и как работает?</a:t>
            </a:r>
            <a:endParaRPr b="0" i="0" sz="3450" u="none" cap="none" strike="noStrike"/>
          </a:p>
        </p:txBody>
      </p:sp>
      <p:sp>
        <p:nvSpPr>
          <p:cNvPr id="95" name="Google Shape;95;p14"/>
          <p:cNvSpPr/>
          <p:nvPr/>
        </p:nvSpPr>
        <p:spPr>
          <a:xfrm>
            <a:off x="586621" y="2218373"/>
            <a:ext cx="167521" cy="2094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300"/>
              <a:buFont typeface="Barlow Light"/>
              <a:buNone/>
            </a:pPr>
            <a:r>
              <a:rPr b="0" i="0" lang="en-US" sz="1300" u="none" cap="none" strike="noStrike">
                <a:solidFill>
                  <a:srgbClr val="384653"/>
                </a:solidFill>
                <a:latin typeface="Barlow Light"/>
                <a:ea typeface="Barlow Light"/>
                <a:cs typeface="Barlow Light"/>
                <a:sym typeface="Barlow Light"/>
              </a:rPr>
              <a:t>01</a:t>
            </a:r>
            <a:endParaRPr b="0" i="0" sz="1300" u="none" cap="none" strike="noStrike"/>
          </a:p>
        </p:txBody>
      </p:sp>
      <p:pic>
        <p:nvPicPr>
          <p:cNvPr descr="preencoded.png" id="96" name="Google Shape;9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6621" y="2480191"/>
            <a:ext cx="7970758" cy="2286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/>
          <p:nvPr/>
        </p:nvSpPr>
        <p:spPr>
          <a:xfrm>
            <a:off x="586621" y="2609612"/>
            <a:ext cx="2714982" cy="275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47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700"/>
              <a:buFont typeface="Barlow"/>
              <a:buNone/>
            </a:pPr>
            <a:r>
              <a:rPr b="1" i="0" lang="en-US" sz="1700" u="none" cap="none" strike="noStrike">
                <a:solidFill>
                  <a:srgbClr val="384653"/>
                </a:solidFill>
                <a:latin typeface="Barlow"/>
                <a:ea typeface="Barlow"/>
                <a:cs typeface="Barlow"/>
                <a:sym typeface="Barlow"/>
              </a:rPr>
              <a:t>Встроенный календарь</a:t>
            </a:r>
            <a:endParaRPr b="0" i="0" sz="1700" u="none" cap="none" strike="noStrike"/>
          </a:p>
        </p:txBody>
      </p:sp>
      <p:sp>
        <p:nvSpPr>
          <p:cNvPr id="98" name="Google Shape;98;p14"/>
          <p:cNvSpPr/>
          <p:nvPr/>
        </p:nvSpPr>
        <p:spPr>
          <a:xfrm>
            <a:off x="586621" y="2985730"/>
            <a:ext cx="7970758" cy="2681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300"/>
              <a:buFont typeface="Montserrat"/>
              <a:buNone/>
            </a:pPr>
            <a:r>
              <a:rPr b="0" i="0" lang="en-US" sz="13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Интегрирован в Telegram через Web App API для удобного доступа.</a:t>
            </a:r>
            <a:endParaRPr b="0" i="0" sz="1300" u="none" cap="none" strike="noStrike"/>
          </a:p>
        </p:txBody>
      </p:sp>
      <p:sp>
        <p:nvSpPr>
          <p:cNvPr id="99" name="Google Shape;99;p14"/>
          <p:cNvSpPr/>
          <p:nvPr/>
        </p:nvSpPr>
        <p:spPr>
          <a:xfrm>
            <a:off x="586621" y="3546991"/>
            <a:ext cx="167521" cy="2094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300"/>
              <a:buFont typeface="Barlow Light"/>
              <a:buNone/>
            </a:pPr>
            <a:r>
              <a:rPr b="0" i="0" lang="en-US" sz="1300" u="none" cap="none" strike="noStrike">
                <a:solidFill>
                  <a:srgbClr val="384653"/>
                </a:solidFill>
                <a:latin typeface="Barlow Light"/>
                <a:ea typeface="Barlow Light"/>
                <a:cs typeface="Barlow Light"/>
                <a:sym typeface="Barlow Light"/>
              </a:rPr>
              <a:t>02</a:t>
            </a:r>
            <a:endParaRPr b="0" i="0" sz="1300" u="none" cap="none" strike="noStrike"/>
          </a:p>
        </p:txBody>
      </p:sp>
      <p:pic>
        <p:nvPicPr>
          <p:cNvPr descr="preencoded.png" id="100" name="Google Shape;100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6621" y="3792022"/>
            <a:ext cx="7970758" cy="2286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/>
          <p:nvPr/>
        </p:nvSpPr>
        <p:spPr>
          <a:xfrm>
            <a:off x="586621" y="3938230"/>
            <a:ext cx="2784038" cy="275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47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700"/>
              <a:buFont typeface="Barlow"/>
              <a:buNone/>
            </a:pPr>
            <a:r>
              <a:rPr b="1" i="0" lang="en-US" sz="1700" u="none" cap="none" strike="noStrike">
                <a:solidFill>
                  <a:srgbClr val="384653"/>
                </a:solidFill>
                <a:latin typeface="Barlow"/>
                <a:ea typeface="Barlow"/>
                <a:cs typeface="Barlow"/>
                <a:sym typeface="Barlow"/>
              </a:rPr>
              <a:t>Управление событиями</a:t>
            </a:r>
            <a:endParaRPr b="0" i="0" sz="1700" u="none" cap="none" strike="noStrike"/>
          </a:p>
        </p:txBody>
      </p:sp>
      <p:sp>
        <p:nvSpPr>
          <p:cNvPr id="102" name="Google Shape;102;p14"/>
          <p:cNvSpPr/>
          <p:nvPr/>
        </p:nvSpPr>
        <p:spPr>
          <a:xfrm>
            <a:off x="586621" y="4314349"/>
            <a:ext cx="7970758" cy="2681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300"/>
              <a:buFont typeface="Montserrat"/>
              <a:buNone/>
            </a:pPr>
            <a:r>
              <a:rPr b="0" i="0" lang="en-US" sz="13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Создавайте, просматривайте и редактируйте события, не выходя из мессенджера.</a:t>
            </a:r>
            <a:endParaRPr b="0" i="0" sz="1300" u="none" cap="none" strike="noStrike"/>
          </a:p>
        </p:txBody>
      </p:sp>
      <p:sp>
        <p:nvSpPr>
          <p:cNvPr id="103" name="Google Shape;103;p14"/>
          <p:cNvSpPr/>
          <p:nvPr/>
        </p:nvSpPr>
        <p:spPr>
          <a:xfrm>
            <a:off x="586621" y="4875609"/>
            <a:ext cx="167521" cy="2094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300"/>
              <a:buFont typeface="Barlow Light"/>
              <a:buNone/>
            </a:pPr>
            <a:r>
              <a:rPr b="0" i="0" lang="en-US" sz="1300" u="none" cap="none" strike="noStrike">
                <a:solidFill>
                  <a:srgbClr val="384653"/>
                </a:solidFill>
                <a:latin typeface="Barlow Light"/>
                <a:ea typeface="Barlow Light"/>
                <a:cs typeface="Barlow Light"/>
                <a:sym typeface="Barlow Light"/>
              </a:rPr>
              <a:t>03</a:t>
            </a:r>
            <a:endParaRPr b="0" i="0" sz="1300" u="none" cap="none" strike="noStrike"/>
          </a:p>
        </p:txBody>
      </p:sp>
      <p:pic>
        <p:nvPicPr>
          <p:cNvPr descr="preencoded.png" id="104" name="Google Shape;10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6621" y="5103971"/>
            <a:ext cx="7970758" cy="2286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/>
          <p:nvPr/>
        </p:nvSpPr>
        <p:spPr>
          <a:xfrm>
            <a:off x="586621" y="5266849"/>
            <a:ext cx="3716655" cy="275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47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700"/>
              <a:buFont typeface="Barlow"/>
              <a:buNone/>
            </a:pPr>
            <a:r>
              <a:rPr b="1" i="0" lang="en-US" sz="1700" u="none" cap="none" strike="noStrike">
                <a:solidFill>
                  <a:srgbClr val="384653"/>
                </a:solidFill>
                <a:latin typeface="Barlow"/>
                <a:ea typeface="Barlow"/>
                <a:cs typeface="Barlow"/>
                <a:sym typeface="Barlow"/>
              </a:rPr>
              <a:t>Синхронизация и напоминания</a:t>
            </a:r>
            <a:endParaRPr b="0" i="0" sz="1700" u="none" cap="none" strike="noStrike"/>
          </a:p>
        </p:txBody>
      </p:sp>
      <p:sp>
        <p:nvSpPr>
          <p:cNvPr id="106" name="Google Shape;106;p14"/>
          <p:cNvSpPr/>
          <p:nvPr/>
        </p:nvSpPr>
        <p:spPr>
          <a:xfrm>
            <a:off x="586621" y="5642967"/>
            <a:ext cx="7970758" cy="2681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300"/>
              <a:buFont typeface="Montserrat"/>
              <a:buNone/>
            </a:pPr>
            <a:r>
              <a:rPr b="0" i="0" lang="en-US" sz="13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Автоматическая синхронизация с чатами и ботами для своевременных уведомлений.</a:t>
            </a:r>
            <a:endParaRPr b="0" i="0" sz="1300" u="none" cap="none" strike="noStrike"/>
          </a:p>
        </p:txBody>
      </p:sp>
      <p:sp>
        <p:nvSpPr>
          <p:cNvPr id="107" name="Google Shape;107;p14"/>
          <p:cNvSpPr/>
          <p:nvPr/>
        </p:nvSpPr>
        <p:spPr>
          <a:xfrm>
            <a:off x="586621" y="6204228"/>
            <a:ext cx="167521" cy="2094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300"/>
              <a:buFont typeface="Barlow Light"/>
              <a:buNone/>
            </a:pPr>
            <a:r>
              <a:rPr b="0" i="0" lang="en-US" sz="1300" u="none" cap="none" strike="noStrike">
                <a:solidFill>
                  <a:srgbClr val="384653"/>
                </a:solidFill>
                <a:latin typeface="Barlow Light"/>
                <a:ea typeface="Barlow Light"/>
                <a:cs typeface="Barlow Light"/>
                <a:sym typeface="Barlow Light"/>
              </a:rPr>
              <a:t>04</a:t>
            </a:r>
            <a:endParaRPr b="0" i="0" sz="1300" u="none" cap="none" strike="noStrike"/>
          </a:p>
        </p:txBody>
      </p:sp>
      <p:pic>
        <p:nvPicPr>
          <p:cNvPr descr="preencoded.png" id="108" name="Google Shape;10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6621" y="6415802"/>
            <a:ext cx="7970758" cy="2286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/>
          <p:nvPr/>
        </p:nvSpPr>
        <p:spPr>
          <a:xfrm>
            <a:off x="586621" y="6595467"/>
            <a:ext cx="2396966" cy="275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47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700"/>
              <a:buFont typeface="Barlow"/>
              <a:buNone/>
            </a:pPr>
            <a:r>
              <a:rPr b="1" i="0" lang="en-US" sz="1700" u="none" cap="none" strike="noStrike">
                <a:solidFill>
                  <a:srgbClr val="384653"/>
                </a:solidFill>
                <a:latin typeface="Barlow"/>
                <a:ea typeface="Barlow"/>
                <a:cs typeface="Barlow"/>
                <a:sym typeface="Barlow"/>
              </a:rPr>
              <a:t>Адаптивный дизайн</a:t>
            </a:r>
            <a:endParaRPr b="0" i="0" sz="1700" u="none" cap="none" strike="noStrike"/>
          </a:p>
        </p:txBody>
      </p:sp>
      <p:sp>
        <p:nvSpPr>
          <p:cNvPr id="110" name="Google Shape;110;p14"/>
          <p:cNvSpPr/>
          <p:nvPr/>
        </p:nvSpPr>
        <p:spPr>
          <a:xfrm>
            <a:off x="586621" y="6971586"/>
            <a:ext cx="7970758" cy="2681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300"/>
              <a:buFont typeface="Montserrat"/>
              <a:buNone/>
            </a:pPr>
            <a:r>
              <a:rPr b="0" i="0" lang="en-US" sz="13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Удобный интерфейс для мобильных и десктопных устройств.</a:t>
            </a:r>
            <a:endParaRPr b="0" i="0" sz="1300" u="none" cap="none" strike="noStrik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5"/>
          <p:cNvSpPr/>
          <p:nvPr/>
        </p:nvSpPr>
        <p:spPr>
          <a:xfrm>
            <a:off x="758309" y="1007388"/>
            <a:ext cx="13113782" cy="14254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42"/>
              </a:lnSpc>
              <a:spcBef>
                <a:spcPts val="0"/>
              </a:spcBef>
              <a:spcAft>
                <a:spcPts val="0"/>
              </a:spcAft>
              <a:buClr>
                <a:srgbClr val="2E3C4E"/>
              </a:buClr>
              <a:buSzPts val="4450"/>
              <a:buFont typeface="Barlow"/>
              <a:buNone/>
            </a:pPr>
            <a:r>
              <a:rPr b="1" i="0" lang="en-US" sz="4450" u="none" cap="none" strike="noStrike">
                <a:solidFill>
                  <a:srgbClr val="2E3C4E"/>
                </a:solidFill>
                <a:latin typeface="Barlow"/>
                <a:ea typeface="Barlow"/>
                <a:cs typeface="Barlow"/>
                <a:sym typeface="Barlow"/>
              </a:rPr>
              <a:t>Примеры использования Telegram веб-календаря</a:t>
            </a:r>
            <a:endParaRPr b="0" i="0" sz="4450" u="none" cap="none" strike="noStrike"/>
          </a:p>
        </p:txBody>
      </p:sp>
      <p:pic>
        <p:nvPicPr>
          <p:cNvPr descr="preencoded.png" id="117" name="Google Shape;11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8309" y="2866073"/>
            <a:ext cx="3075384" cy="1900714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/>
          <p:nvPr/>
        </p:nvSpPr>
        <p:spPr>
          <a:xfrm>
            <a:off x="758309" y="4983361"/>
            <a:ext cx="3075384" cy="712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2200"/>
              <a:buFont typeface="Barlow"/>
              <a:buNone/>
            </a:pPr>
            <a:r>
              <a:rPr b="1" i="0" lang="en-US" sz="2200" u="none" cap="none" strike="noStrike">
                <a:solidFill>
                  <a:srgbClr val="384653"/>
                </a:solidFill>
                <a:latin typeface="Barlow"/>
                <a:ea typeface="Barlow"/>
                <a:cs typeface="Barlow"/>
                <a:sym typeface="Barlow"/>
              </a:rPr>
              <a:t>Планирование встреч</a:t>
            </a:r>
            <a:endParaRPr b="0" i="0" sz="2200" u="none" cap="none" strike="noStrike"/>
          </a:p>
        </p:txBody>
      </p:sp>
      <p:sp>
        <p:nvSpPr>
          <p:cNvPr id="119" name="Google Shape;119;p15"/>
          <p:cNvSpPr/>
          <p:nvPr/>
        </p:nvSpPr>
        <p:spPr>
          <a:xfrm>
            <a:off x="758309" y="5825728"/>
            <a:ext cx="3075384" cy="1040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700"/>
              <a:buFont typeface="Montserrat"/>
              <a:buNone/>
            </a:pPr>
            <a:r>
              <a:rPr b="0" i="0" lang="en-US" sz="17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Организация событий с коллегами прямо в чатах Telegram.</a:t>
            </a:r>
            <a:endParaRPr b="0" i="0" sz="1700" u="none" cap="none" strike="noStrike"/>
          </a:p>
        </p:txBody>
      </p:sp>
      <p:pic>
        <p:nvPicPr>
          <p:cNvPr descr="preencoded.png" id="120" name="Google Shape;12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04442" y="2866073"/>
            <a:ext cx="3075384" cy="1900714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5"/>
          <p:cNvSpPr/>
          <p:nvPr/>
        </p:nvSpPr>
        <p:spPr>
          <a:xfrm>
            <a:off x="4104442" y="4983361"/>
            <a:ext cx="3075384" cy="712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2200"/>
              <a:buFont typeface="Barlow"/>
              <a:buNone/>
            </a:pPr>
            <a:r>
              <a:rPr b="1" i="0" lang="en-US" sz="2200" u="none" cap="none" strike="noStrike">
                <a:solidFill>
                  <a:srgbClr val="384653"/>
                </a:solidFill>
                <a:latin typeface="Barlow"/>
                <a:ea typeface="Barlow"/>
                <a:cs typeface="Barlow"/>
                <a:sym typeface="Barlow"/>
              </a:rPr>
              <a:t>Автоматические напоминания</a:t>
            </a:r>
            <a:endParaRPr b="0" i="0" sz="2200" u="none" cap="none" strike="noStrike"/>
          </a:p>
        </p:txBody>
      </p:sp>
      <p:sp>
        <p:nvSpPr>
          <p:cNvPr id="122" name="Google Shape;122;p15"/>
          <p:cNvSpPr/>
          <p:nvPr/>
        </p:nvSpPr>
        <p:spPr>
          <a:xfrm>
            <a:off x="4104442" y="5825728"/>
            <a:ext cx="3075384" cy="693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700"/>
              <a:buFont typeface="Montserrat"/>
              <a:buNone/>
            </a:pPr>
            <a:r>
              <a:rPr b="0" i="0" lang="en-US" sz="17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Боты уведомляют о важных датах и задачах.</a:t>
            </a:r>
            <a:endParaRPr b="0" i="0" sz="1700" u="none" cap="none" strike="noStrike"/>
          </a:p>
        </p:txBody>
      </p:sp>
      <p:pic>
        <p:nvPicPr>
          <p:cNvPr descr="preencoded.png" id="123" name="Google Shape;123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50574" y="2866073"/>
            <a:ext cx="3075384" cy="1900714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/>
          <p:nvPr/>
        </p:nvSpPr>
        <p:spPr>
          <a:xfrm>
            <a:off x="7450574" y="4983361"/>
            <a:ext cx="3075384" cy="712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2200"/>
              <a:buFont typeface="Barlow"/>
              <a:buNone/>
            </a:pPr>
            <a:r>
              <a:rPr b="1" i="0" lang="en-US" sz="2200" u="none" cap="none" strike="noStrike">
                <a:solidFill>
                  <a:srgbClr val="384653"/>
                </a:solidFill>
                <a:latin typeface="Barlow"/>
                <a:ea typeface="Barlow"/>
                <a:cs typeface="Barlow"/>
                <a:sym typeface="Barlow"/>
              </a:rPr>
              <a:t>Организация расписаний</a:t>
            </a:r>
            <a:endParaRPr b="0" i="0" sz="2200" u="none" cap="none" strike="noStrike"/>
          </a:p>
        </p:txBody>
      </p:sp>
      <p:sp>
        <p:nvSpPr>
          <p:cNvPr id="125" name="Google Shape;125;p15"/>
          <p:cNvSpPr/>
          <p:nvPr/>
        </p:nvSpPr>
        <p:spPr>
          <a:xfrm>
            <a:off x="7450574" y="5825728"/>
            <a:ext cx="3075384" cy="1040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700"/>
              <a:buFont typeface="Montserrat"/>
              <a:buNone/>
            </a:pPr>
            <a:r>
              <a:rPr b="0" i="0" lang="en-US" sz="17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Управление задачами для команд и групп без сторонних приложений.</a:t>
            </a:r>
            <a:endParaRPr b="0" i="0" sz="1700" u="none" cap="none" strike="noStrike"/>
          </a:p>
        </p:txBody>
      </p:sp>
      <p:pic>
        <p:nvPicPr>
          <p:cNvPr descr="preencoded.png" id="126" name="Google Shape;126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796707" y="2866073"/>
            <a:ext cx="3075384" cy="1900714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5"/>
          <p:cNvSpPr/>
          <p:nvPr/>
        </p:nvSpPr>
        <p:spPr>
          <a:xfrm>
            <a:off x="10796707" y="4983361"/>
            <a:ext cx="3075384" cy="10687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2200"/>
              <a:buFont typeface="Barlow"/>
              <a:buNone/>
            </a:pPr>
            <a:r>
              <a:rPr b="1" i="0" lang="en-US" sz="2200" u="none" cap="none" strike="noStrike">
                <a:solidFill>
                  <a:srgbClr val="384653"/>
                </a:solidFill>
                <a:latin typeface="Barlow"/>
                <a:ea typeface="Barlow"/>
                <a:cs typeface="Barlow"/>
                <a:sym typeface="Barlow"/>
              </a:rPr>
              <a:t>Интеграция с ботами и телеграм чатами</a:t>
            </a:r>
            <a:endParaRPr b="0" i="0" sz="2200" u="none" cap="none" strike="noStrike"/>
          </a:p>
        </p:txBody>
      </p:sp>
      <p:sp>
        <p:nvSpPr>
          <p:cNvPr id="128" name="Google Shape;128;p15"/>
          <p:cNvSpPr/>
          <p:nvPr/>
        </p:nvSpPr>
        <p:spPr>
          <a:xfrm>
            <a:off x="10796707" y="6181963"/>
            <a:ext cx="3075384" cy="1040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700"/>
              <a:buFont typeface="Montserrat"/>
              <a:buNone/>
            </a:pPr>
            <a:r>
              <a:rPr b="0" i="0" lang="en-US" sz="17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Упрощение и ускорение процессов планирования и коммуникации </a:t>
            </a:r>
            <a:endParaRPr b="0" i="0" sz="1700" u="none" cap="none" strike="noStrike"/>
          </a:p>
        </p:txBody>
      </p:sp>
      <p:sp>
        <p:nvSpPr>
          <p:cNvPr id="129" name="Google Shape;129;p15"/>
          <p:cNvSpPr/>
          <p:nvPr/>
        </p:nvSpPr>
        <p:spPr>
          <a:xfrm>
            <a:off x="12865825" y="7739600"/>
            <a:ext cx="1764600" cy="489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6"/>
          <p:cNvSpPr/>
          <p:nvPr/>
        </p:nvSpPr>
        <p:spPr>
          <a:xfrm>
            <a:off x="758309" y="1711047"/>
            <a:ext cx="11616095" cy="712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42"/>
              </a:lnSpc>
              <a:spcBef>
                <a:spcPts val="0"/>
              </a:spcBef>
              <a:spcAft>
                <a:spcPts val="0"/>
              </a:spcAft>
              <a:buClr>
                <a:srgbClr val="2E3C4E"/>
              </a:buClr>
              <a:buSzPts val="4450"/>
              <a:buFont typeface="Barlow"/>
              <a:buNone/>
            </a:pPr>
            <a:r>
              <a:rPr b="1" i="0" lang="en-US" sz="4450" u="none" cap="none" strike="noStrike">
                <a:solidFill>
                  <a:srgbClr val="2E3C4E"/>
                </a:solidFill>
                <a:latin typeface="Barlow"/>
                <a:ea typeface="Barlow"/>
                <a:cs typeface="Barlow"/>
                <a:sym typeface="Barlow"/>
              </a:rPr>
              <a:t>Преимущества Telegram веб-календаря</a:t>
            </a:r>
            <a:endParaRPr b="0" i="0" sz="4450" u="none" cap="none" strike="noStrike"/>
          </a:p>
        </p:txBody>
      </p:sp>
      <p:sp>
        <p:nvSpPr>
          <p:cNvPr id="136" name="Google Shape;136;p16"/>
          <p:cNvSpPr/>
          <p:nvPr/>
        </p:nvSpPr>
        <p:spPr>
          <a:xfrm>
            <a:off x="758309" y="2510314"/>
            <a:ext cx="7126486" cy="5700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2E3C4E"/>
              </a:buClr>
              <a:buSzPts val="3550"/>
              <a:buFont typeface="Barlow"/>
              <a:buNone/>
            </a:pPr>
            <a:r>
              <a:rPr b="1" i="0" lang="en-US" sz="3550" u="none" cap="none" strike="noStrike">
                <a:solidFill>
                  <a:srgbClr val="2E3C4E"/>
                </a:solidFill>
                <a:latin typeface="Barlow"/>
                <a:ea typeface="Barlow"/>
                <a:cs typeface="Barlow"/>
                <a:sym typeface="Barlow"/>
              </a:rPr>
              <a:t>Для пользователей и бизнеса</a:t>
            </a:r>
            <a:endParaRPr b="0" i="0" sz="3550" u="none" cap="none" strike="noStrike"/>
          </a:p>
        </p:txBody>
      </p:sp>
      <p:sp>
        <p:nvSpPr>
          <p:cNvPr id="137" name="Google Shape;137;p16"/>
          <p:cNvSpPr/>
          <p:nvPr/>
        </p:nvSpPr>
        <p:spPr>
          <a:xfrm>
            <a:off x="758309" y="3649028"/>
            <a:ext cx="13113782" cy="30480"/>
          </a:xfrm>
          <a:prstGeom prst="roundRect">
            <a:avLst>
              <a:gd fmla="val 1066251" name="adj"/>
            </a:avLst>
          </a:prstGeom>
          <a:solidFill>
            <a:srgbClr val="BACF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6"/>
          <p:cNvSpPr/>
          <p:nvPr/>
        </p:nvSpPr>
        <p:spPr>
          <a:xfrm>
            <a:off x="2280761" y="3649028"/>
            <a:ext cx="30480" cy="649962"/>
          </a:xfrm>
          <a:prstGeom prst="roundRect">
            <a:avLst>
              <a:gd fmla="val 1066251" name="adj"/>
            </a:avLst>
          </a:prstGeom>
          <a:solidFill>
            <a:srgbClr val="BACF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6"/>
          <p:cNvSpPr/>
          <p:nvPr/>
        </p:nvSpPr>
        <p:spPr>
          <a:xfrm>
            <a:off x="2052280" y="3405307"/>
            <a:ext cx="487442" cy="487442"/>
          </a:xfrm>
          <a:prstGeom prst="roundRect">
            <a:avLst>
              <a:gd fmla="val 66673" name="adj"/>
            </a:avLst>
          </a:prstGeom>
          <a:solidFill>
            <a:srgbClr val="D4E9F7"/>
          </a:solidFill>
          <a:ln cap="flat" cmpd="sng" w="9525">
            <a:solidFill>
              <a:srgbClr val="BACF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0" name="Google Shape;14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24968" y="3477994"/>
            <a:ext cx="342067" cy="342067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6"/>
          <p:cNvSpPr/>
          <p:nvPr/>
        </p:nvSpPr>
        <p:spPr>
          <a:xfrm>
            <a:off x="974884" y="4515683"/>
            <a:ext cx="2642235" cy="712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2200"/>
              <a:buFont typeface="Barlow"/>
              <a:buNone/>
            </a:pPr>
            <a:r>
              <a:rPr b="1" i="0" lang="en-US" sz="2200" u="none" cap="none" strike="noStrike">
                <a:solidFill>
                  <a:srgbClr val="384653"/>
                </a:solidFill>
                <a:latin typeface="Barlow"/>
                <a:ea typeface="Barlow"/>
                <a:cs typeface="Barlow"/>
                <a:sym typeface="Barlow"/>
              </a:rPr>
              <a:t>Мгновенный доступ</a:t>
            </a:r>
            <a:endParaRPr b="0" i="0" sz="2200" u="none" cap="none" strike="noStrike"/>
          </a:p>
        </p:txBody>
      </p:sp>
      <p:sp>
        <p:nvSpPr>
          <p:cNvPr id="142" name="Google Shape;142;p16"/>
          <p:cNvSpPr/>
          <p:nvPr/>
        </p:nvSpPr>
        <p:spPr>
          <a:xfrm>
            <a:off x="974884" y="5358051"/>
            <a:ext cx="2642235" cy="693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700"/>
              <a:buFont typeface="Montserrat"/>
              <a:buNone/>
            </a:pPr>
            <a:r>
              <a:rPr b="0" i="0" lang="en-US" sz="17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Без установки и регистрации.</a:t>
            </a:r>
            <a:endParaRPr b="0" i="0" sz="1700" u="none" cap="none" strike="noStrike"/>
          </a:p>
        </p:txBody>
      </p:sp>
      <p:sp>
        <p:nvSpPr>
          <p:cNvPr id="143" name="Google Shape;143;p16"/>
          <p:cNvSpPr/>
          <p:nvPr/>
        </p:nvSpPr>
        <p:spPr>
          <a:xfrm>
            <a:off x="5626894" y="3649028"/>
            <a:ext cx="30480" cy="649962"/>
          </a:xfrm>
          <a:prstGeom prst="roundRect">
            <a:avLst>
              <a:gd fmla="val 1066251" name="adj"/>
            </a:avLst>
          </a:prstGeom>
          <a:solidFill>
            <a:srgbClr val="BACF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6"/>
          <p:cNvSpPr/>
          <p:nvPr/>
        </p:nvSpPr>
        <p:spPr>
          <a:xfrm>
            <a:off x="5398413" y="3405307"/>
            <a:ext cx="487442" cy="487442"/>
          </a:xfrm>
          <a:prstGeom prst="roundRect">
            <a:avLst>
              <a:gd fmla="val 66673" name="adj"/>
            </a:avLst>
          </a:prstGeom>
          <a:solidFill>
            <a:srgbClr val="D4E9F7"/>
          </a:solidFill>
          <a:ln cap="flat" cmpd="sng" w="9525">
            <a:solidFill>
              <a:srgbClr val="BACF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5" name="Google Shape;14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71100" y="3477994"/>
            <a:ext cx="342067" cy="342067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6"/>
          <p:cNvSpPr/>
          <p:nvPr/>
        </p:nvSpPr>
        <p:spPr>
          <a:xfrm>
            <a:off x="4321016" y="4515683"/>
            <a:ext cx="2642235" cy="712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2200"/>
              <a:buFont typeface="Barlow"/>
              <a:buNone/>
            </a:pPr>
            <a:r>
              <a:rPr b="1" i="0" lang="en-US" sz="2200" u="none" cap="none" strike="noStrike">
                <a:solidFill>
                  <a:srgbClr val="384653"/>
                </a:solidFill>
                <a:latin typeface="Barlow"/>
                <a:ea typeface="Barlow"/>
                <a:cs typeface="Barlow"/>
                <a:sym typeface="Barlow"/>
              </a:rPr>
              <a:t>Экономия времени</a:t>
            </a:r>
            <a:endParaRPr b="0" i="0" sz="2200" u="none" cap="none" strike="noStrike"/>
          </a:p>
        </p:txBody>
      </p:sp>
      <p:sp>
        <p:nvSpPr>
          <p:cNvPr id="147" name="Google Shape;147;p16"/>
          <p:cNvSpPr/>
          <p:nvPr/>
        </p:nvSpPr>
        <p:spPr>
          <a:xfrm>
            <a:off x="4321016" y="5358051"/>
            <a:ext cx="2642235" cy="1040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700"/>
              <a:buFont typeface="Montserrat"/>
              <a:buNone/>
            </a:pPr>
            <a:r>
              <a:rPr b="0" i="0" lang="en-US" sz="17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Сокращение переключения между приложениями.</a:t>
            </a:r>
            <a:endParaRPr b="0" i="0" sz="1700" u="none" cap="none" strike="noStrike"/>
          </a:p>
        </p:txBody>
      </p:sp>
      <p:sp>
        <p:nvSpPr>
          <p:cNvPr id="148" name="Google Shape;148;p16"/>
          <p:cNvSpPr/>
          <p:nvPr/>
        </p:nvSpPr>
        <p:spPr>
          <a:xfrm>
            <a:off x="8973026" y="3649028"/>
            <a:ext cx="30480" cy="649962"/>
          </a:xfrm>
          <a:prstGeom prst="roundRect">
            <a:avLst>
              <a:gd fmla="val 1066251" name="adj"/>
            </a:avLst>
          </a:prstGeom>
          <a:solidFill>
            <a:srgbClr val="BACF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6"/>
          <p:cNvSpPr/>
          <p:nvPr/>
        </p:nvSpPr>
        <p:spPr>
          <a:xfrm>
            <a:off x="8744545" y="3405307"/>
            <a:ext cx="487442" cy="487442"/>
          </a:xfrm>
          <a:prstGeom prst="roundRect">
            <a:avLst>
              <a:gd fmla="val 66673" name="adj"/>
            </a:avLst>
          </a:prstGeom>
          <a:solidFill>
            <a:srgbClr val="D4E9F7"/>
          </a:solidFill>
          <a:ln cap="flat" cmpd="sng" w="9525">
            <a:solidFill>
              <a:srgbClr val="BACF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0" name="Google Shape;15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17233" y="3477994"/>
            <a:ext cx="342067" cy="342067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6"/>
          <p:cNvSpPr/>
          <p:nvPr/>
        </p:nvSpPr>
        <p:spPr>
          <a:xfrm>
            <a:off x="7667149" y="4515683"/>
            <a:ext cx="2642235" cy="712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2200"/>
              <a:buFont typeface="Barlow"/>
              <a:buNone/>
            </a:pPr>
            <a:r>
              <a:rPr b="1" i="0" lang="en-US" sz="2200" u="none" cap="none" strike="noStrike">
                <a:solidFill>
                  <a:srgbClr val="384653"/>
                </a:solidFill>
                <a:latin typeface="Barlow"/>
                <a:ea typeface="Barlow"/>
                <a:cs typeface="Barlow"/>
                <a:sym typeface="Barlow"/>
              </a:rPr>
              <a:t>Повышение эффективности</a:t>
            </a:r>
            <a:endParaRPr b="0" i="0" sz="2200" u="none" cap="none" strike="noStrike"/>
          </a:p>
        </p:txBody>
      </p:sp>
      <p:sp>
        <p:nvSpPr>
          <p:cNvPr id="152" name="Google Shape;152;p16"/>
          <p:cNvSpPr/>
          <p:nvPr/>
        </p:nvSpPr>
        <p:spPr>
          <a:xfrm>
            <a:off x="7667149" y="5358051"/>
            <a:ext cx="2642235" cy="1040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700"/>
              <a:buFont typeface="Montserrat"/>
              <a:buNone/>
            </a:pPr>
            <a:r>
              <a:rPr b="0" i="0" lang="en-US" sz="17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Улучшение коммуникации и планирования.</a:t>
            </a:r>
            <a:endParaRPr b="0" i="0" sz="1700" u="none" cap="none" strike="noStrike"/>
          </a:p>
        </p:txBody>
      </p:sp>
      <p:sp>
        <p:nvSpPr>
          <p:cNvPr id="153" name="Google Shape;153;p16"/>
          <p:cNvSpPr/>
          <p:nvPr/>
        </p:nvSpPr>
        <p:spPr>
          <a:xfrm>
            <a:off x="12319159" y="3649028"/>
            <a:ext cx="30480" cy="649962"/>
          </a:xfrm>
          <a:prstGeom prst="roundRect">
            <a:avLst>
              <a:gd fmla="val 1066251" name="adj"/>
            </a:avLst>
          </a:prstGeom>
          <a:solidFill>
            <a:srgbClr val="BACF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6"/>
          <p:cNvSpPr/>
          <p:nvPr/>
        </p:nvSpPr>
        <p:spPr>
          <a:xfrm>
            <a:off x="12090678" y="3405307"/>
            <a:ext cx="487442" cy="487442"/>
          </a:xfrm>
          <a:prstGeom prst="roundRect">
            <a:avLst>
              <a:gd fmla="val 66673" name="adj"/>
            </a:avLst>
          </a:prstGeom>
          <a:solidFill>
            <a:srgbClr val="D4E9F7"/>
          </a:solidFill>
          <a:ln cap="flat" cmpd="sng" w="9525">
            <a:solidFill>
              <a:srgbClr val="BACF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5" name="Google Shape;15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63365" y="3477994"/>
            <a:ext cx="342067" cy="342067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6"/>
          <p:cNvSpPr/>
          <p:nvPr/>
        </p:nvSpPr>
        <p:spPr>
          <a:xfrm>
            <a:off x="11013281" y="4515683"/>
            <a:ext cx="2642235" cy="356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2200"/>
              <a:buFont typeface="Barlow"/>
              <a:buNone/>
            </a:pPr>
            <a:r>
              <a:rPr b="1" i="0" lang="en-US" sz="2200" u="none" cap="none" strike="noStrike">
                <a:solidFill>
                  <a:srgbClr val="384653"/>
                </a:solidFill>
                <a:latin typeface="Barlow"/>
                <a:ea typeface="Barlow"/>
                <a:cs typeface="Barlow"/>
                <a:sym typeface="Barlow"/>
              </a:rPr>
              <a:t>Автоматизация</a:t>
            </a:r>
            <a:endParaRPr b="0" i="0" sz="2200" u="none" cap="none" strike="noStrike"/>
          </a:p>
        </p:txBody>
      </p:sp>
      <p:sp>
        <p:nvSpPr>
          <p:cNvPr id="157" name="Google Shape;157;p16"/>
          <p:cNvSpPr/>
          <p:nvPr/>
        </p:nvSpPr>
        <p:spPr>
          <a:xfrm>
            <a:off x="11013281" y="5001816"/>
            <a:ext cx="2642235" cy="346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700"/>
              <a:buFont typeface="Montserrat"/>
              <a:buNone/>
            </a:pPr>
            <a:r>
              <a:rPr b="0" i="0" lang="en-US" sz="17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Упрощение работы с</a:t>
            </a:r>
            <a:endParaRPr b="0" i="0" sz="1700" u="none" cap="none" strike="noStrike"/>
          </a:p>
        </p:txBody>
      </p:sp>
      <p:sp>
        <p:nvSpPr>
          <p:cNvPr id="158" name="Google Shape;158;p16"/>
          <p:cNvSpPr/>
          <p:nvPr/>
        </p:nvSpPr>
        <p:spPr>
          <a:xfrm>
            <a:off x="11013281" y="5478423"/>
            <a:ext cx="2642235" cy="1040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700"/>
              <a:buFont typeface="Montserrat"/>
              <a:buNone/>
            </a:pPr>
            <a:r>
              <a:rPr b="0" i="0" lang="en-US" sz="17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людьми за счет автоматизированных оповещений </a:t>
            </a:r>
            <a:endParaRPr b="0" i="0" sz="1700" u="none" cap="none" strike="noStrike"/>
          </a:p>
        </p:txBody>
      </p:sp>
      <p:sp>
        <p:nvSpPr>
          <p:cNvPr id="159" name="Google Shape;159;p16"/>
          <p:cNvSpPr/>
          <p:nvPr/>
        </p:nvSpPr>
        <p:spPr>
          <a:xfrm>
            <a:off x="12865825" y="7739600"/>
            <a:ext cx="1764600" cy="489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5" name="Google Shape;16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69680" y="0"/>
            <a:ext cx="576072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7"/>
          <p:cNvSpPr/>
          <p:nvPr/>
        </p:nvSpPr>
        <p:spPr>
          <a:xfrm>
            <a:off x="758309" y="639723"/>
            <a:ext cx="7627382" cy="14254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42"/>
              </a:lnSpc>
              <a:spcBef>
                <a:spcPts val="0"/>
              </a:spcBef>
              <a:spcAft>
                <a:spcPts val="0"/>
              </a:spcAft>
              <a:buClr>
                <a:srgbClr val="2E3C4E"/>
              </a:buClr>
              <a:buSzPts val="4450"/>
              <a:buFont typeface="Barlow"/>
              <a:buNone/>
            </a:pPr>
            <a:r>
              <a:rPr b="1" i="0" lang="en-US" sz="4450" u="none" cap="none" strike="noStrike">
                <a:solidFill>
                  <a:srgbClr val="2E3C4E"/>
                </a:solidFill>
                <a:latin typeface="Barlow"/>
                <a:ea typeface="Barlow"/>
                <a:cs typeface="Barlow"/>
                <a:sym typeface="Barlow"/>
              </a:rPr>
              <a:t>Как создать и внедрить Telegram Web App?</a:t>
            </a:r>
            <a:endParaRPr b="0" i="0" sz="4450" u="none" cap="none" strike="noStrike"/>
          </a:p>
        </p:txBody>
      </p:sp>
      <p:pic>
        <p:nvPicPr>
          <p:cNvPr descr="preencoded.png" id="167" name="Google Shape;16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8309" y="2390061"/>
            <a:ext cx="1083231" cy="1299924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7"/>
          <p:cNvSpPr/>
          <p:nvPr/>
        </p:nvSpPr>
        <p:spPr>
          <a:xfrm>
            <a:off x="2058114" y="2606635"/>
            <a:ext cx="2850713" cy="356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2200"/>
              <a:buFont typeface="Barlow"/>
              <a:buNone/>
            </a:pPr>
            <a:r>
              <a:rPr b="1" i="0" lang="en-US" sz="2200" u="none" cap="none" strike="noStrike">
                <a:solidFill>
                  <a:srgbClr val="384653"/>
                </a:solidFill>
                <a:latin typeface="Barlow"/>
                <a:ea typeface="Barlow"/>
                <a:cs typeface="Barlow"/>
                <a:sym typeface="Barlow"/>
              </a:rPr>
              <a:t>Разработка</a:t>
            </a:r>
            <a:endParaRPr b="0" i="0" sz="2200" u="none" cap="none" strike="noStrike"/>
          </a:p>
        </p:txBody>
      </p:sp>
      <p:sp>
        <p:nvSpPr>
          <p:cNvPr id="169" name="Google Shape;169;p17"/>
          <p:cNvSpPr/>
          <p:nvPr/>
        </p:nvSpPr>
        <p:spPr>
          <a:xfrm>
            <a:off x="2058114" y="3092768"/>
            <a:ext cx="6327577" cy="346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700"/>
              <a:buFont typeface="Montserrat"/>
              <a:buNone/>
            </a:pPr>
            <a:r>
              <a:rPr b="0" i="0" lang="en-US" sz="17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На стандартных веб-технологиях с telegram-web-app.js.</a:t>
            </a:r>
            <a:endParaRPr b="0" i="0" sz="1700" u="none" cap="none" strike="noStrike"/>
          </a:p>
        </p:txBody>
      </p:sp>
      <p:pic>
        <p:nvPicPr>
          <p:cNvPr descr="preencoded.png" id="170" name="Google Shape;170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8309" y="3689985"/>
            <a:ext cx="1083231" cy="1299924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7"/>
          <p:cNvSpPr/>
          <p:nvPr/>
        </p:nvSpPr>
        <p:spPr>
          <a:xfrm>
            <a:off x="2058114" y="3906560"/>
            <a:ext cx="2850713" cy="356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2200"/>
              <a:buFont typeface="Barlow"/>
              <a:buNone/>
            </a:pPr>
            <a:r>
              <a:rPr b="1" i="0" lang="en-US" sz="2200" u="none" cap="none" strike="noStrike">
                <a:solidFill>
                  <a:srgbClr val="384653"/>
                </a:solidFill>
                <a:latin typeface="Barlow"/>
                <a:ea typeface="Barlow"/>
                <a:cs typeface="Barlow"/>
                <a:sym typeface="Barlow"/>
              </a:rPr>
              <a:t>Настройка запуска</a:t>
            </a:r>
            <a:endParaRPr b="0" i="0" sz="2200" u="none" cap="none" strike="noStrike"/>
          </a:p>
        </p:txBody>
      </p:sp>
      <p:sp>
        <p:nvSpPr>
          <p:cNvPr id="172" name="Google Shape;172;p17"/>
          <p:cNvSpPr/>
          <p:nvPr/>
        </p:nvSpPr>
        <p:spPr>
          <a:xfrm>
            <a:off x="2058114" y="4392692"/>
            <a:ext cx="6327577" cy="346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700"/>
              <a:buFont typeface="Montserrat"/>
              <a:buNone/>
            </a:pPr>
            <a:r>
              <a:rPr b="0" i="0" lang="en-US" sz="17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Кнопки через @BotFather или inline-кнопки.</a:t>
            </a:r>
            <a:endParaRPr b="0" i="0" sz="1700" u="none" cap="none" strike="noStrike"/>
          </a:p>
        </p:txBody>
      </p:sp>
      <p:pic>
        <p:nvPicPr>
          <p:cNvPr descr="preencoded.png" id="173" name="Google Shape;173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58309" y="4989909"/>
            <a:ext cx="1083231" cy="1299924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7"/>
          <p:cNvSpPr/>
          <p:nvPr/>
        </p:nvSpPr>
        <p:spPr>
          <a:xfrm>
            <a:off x="2058114" y="5206484"/>
            <a:ext cx="3198852" cy="356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2200"/>
              <a:buFont typeface="Barlow"/>
              <a:buNone/>
            </a:pPr>
            <a:r>
              <a:rPr b="1" i="0" lang="en-US" sz="2200" u="none" cap="none" strike="noStrike">
                <a:solidFill>
                  <a:srgbClr val="384653"/>
                </a:solidFill>
                <a:latin typeface="Barlow"/>
                <a:ea typeface="Barlow"/>
                <a:cs typeface="Barlow"/>
                <a:sym typeface="Barlow"/>
              </a:rPr>
              <a:t>Интеграция с ботами</a:t>
            </a:r>
            <a:endParaRPr b="0" i="0" sz="2200" u="none" cap="none" strike="noStrike"/>
          </a:p>
        </p:txBody>
      </p:sp>
      <p:sp>
        <p:nvSpPr>
          <p:cNvPr id="175" name="Google Shape;175;p17"/>
          <p:cNvSpPr/>
          <p:nvPr/>
        </p:nvSpPr>
        <p:spPr>
          <a:xfrm>
            <a:off x="2058114" y="5692616"/>
            <a:ext cx="6327577" cy="346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700"/>
              <a:buFont typeface="Montserrat"/>
              <a:buNone/>
            </a:pPr>
            <a:r>
              <a:rPr b="0" i="0" lang="en-US" sz="17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Обмен данными и управление событиями.</a:t>
            </a:r>
            <a:endParaRPr b="0" i="0" sz="1700" u="none" cap="none" strike="noStrike"/>
          </a:p>
        </p:txBody>
      </p:sp>
      <p:pic>
        <p:nvPicPr>
          <p:cNvPr descr="preencoded.png" id="176" name="Google Shape;176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58309" y="6289834"/>
            <a:ext cx="1083231" cy="1299924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7"/>
          <p:cNvSpPr/>
          <p:nvPr/>
        </p:nvSpPr>
        <p:spPr>
          <a:xfrm>
            <a:off x="2058114" y="6506408"/>
            <a:ext cx="3232309" cy="356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2200"/>
              <a:buFont typeface="Barlow"/>
              <a:buNone/>
            </a:pPr>
            <a:r>
              <a:rPr b="1" i="0" lang="en-US" sz="2200" u="none" cap="none" strike="noStrike">
                <a:solidFill>
                  <a:srgbClr val="384653"/>
                </a:solidFill>
                <a:latin typeface="Barlow"/>
                <a:ea typeface="Barlow"/>
                <a:cs typeface="Barlow"/>
                <a:sym typeface="Barlow"/>
              </a:rPr>
              <a:t>Встроенные функции</a:t>
            </a:r>
            <a:endParaRPr b="0" i="0" sz="2200" u="none" cap="none" strike="noStrike"/>
          </a:p>
        </p:txBody>
      </p:sp>
      <p:sp>
        <p:nvSpPr>
          <p:cNvPr id="178" name="Google Shape;178;p17"/>
          <p:cNvSpPr/>
          <p:nvPr/>
        </p:nvSpPr>
        <p:spPr>
          <a:xfrm>
            <a:off x="2058114" y="6992541"/>
            <a:ext cx="6327577" cy="346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700"/>
              <a:buFont typeface="Montserrat"/>
              <a:buNone/>
            </a:pPr>
            <a:r>
              <a:rPr b="0" i="0" lang="en-US" sz="170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Авторизация, оплата, уведомления.</a:t>
            </a:r>
            <a:endParaRPr b="0" i="0" sz="1700" u="none" cap="none" strike="noStrike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84" name="Google Shape;18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76072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8"/>
          <p:cNvSpPr/>
          <p:nvPr/>
        </p:nvSpPr>
        <p:spPr>
          <a:xfrm>
            <a:off x="6054685" y="712232"/>
            <a:ext cx="8007429" cy="10682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73"/>
              </a:lnSpc>
              <a:spcBef>
                <a:spcPts val="0"/>
              </a:spcBef>
              <a:spcAft>
                <a:spcPts val="0"/>
              </a:spcAft>
              <a:buClr>
                <a:srgbClr val="2E3C4E"/>
              </a:buClr>
              <a:buSzPts val="3350"/>
              <a:buFont typeface="Barlow"/>
              <a:buNone/>
            </a:pPr>
            <a:r>
              <a:rPr b="1" i="0" lang="en-US" sz="3350" u="none" cap="none" strike="noStrike">
                <a:solidFill>
                  <a:srgbClr val="2E3C4E"/>
                </a:solidFill>
                <a:latin typeface="Barlow"/>
                <a:ea typeface="Barlow"/>
                <a:cs typeface="Barlow"/>
                <a:sym typeface="Barlow"/>
              </a:rPr>
              <a:t>Итог: Telegram Web Apps — будущее удобных сервисов</a:t>
            </a:r>
            <a:endParaRPr b="0" i="0" sz="3350" u="none" cap="none" strike="noStrike"/>
          </a:p>
        </p:txBody>
      </p:sp>
      <p:sp>
        <p:nvSpPr>
          <p:cNvPr id="186" name="Google Shape;186;p18"/>
          <p:cNvSpPr/>
          <p:nvPr/>
        </p:nvSpPr>
        <p:spPr>
          <a:xfrm>
            <a:off x="6054685" y="2023943"/>
            <a:ext cx="5897047" cy="7371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86"/>
              </a:lnSpc>
              <a:spcBef>
                <a:spcPts val="0"/>
              </a:spcBef>
              <a:spcAft>
                <a:spcPts val="0"/>
              </a:spcAft>
              <a:buClr>
                <a:srgbClr val="2E3C4E"/>
              </a:buClr>
              <a:buSzPts val="4600"/>
              <a:buFont typeface="Barlow"/>
              <a:buNone/>
            </a:pPr>
            <a:r>
              <a:rPr b="1" i="0" lang="en-US" sz="4600" u="none" cap="none" strike="noStrike">
                <a:solidFill>
                  <a:srgbClr val="2E3C4E"/>
                </a:solidFill>
                <a:latin typeface="Barlow"/>
                <a:ea typeface="Barlow"/>
                <a:cs typeface="Barlow"/>
                <a:sym typeface="Barlow"/>
              </a:rPr>
              <a:t>В мессенджерах</a:t>
            </a:r>
            <a:endParaRPr b="0" i="0" sz="4600" u="none" cap="none" strike="noStrike"/>
          </a:p>
        </p:txBody>
      </p:sp>
      <p:sp>
        <p:nvSpPr>
          <p:cNvPr id="187" name="Google Shape;187;p18"/>
          <p:cNvSpPr/>
          <p:nvPr/>
        </p:nvSpPr>
        <p:spPr>
          <a:xfrm>
            <a:off x="6054685" y="3004542"/>
            <a:ext cx="8007429" cy="3810476"/>
          </a:xfrm>
          <a:prstGeom prst="roundRect">
            <a:avLst>
              <a:gd fmla="val 6392" name="adj"/>
            </a:avLst>
          </a:prstGeom>
          <a:solidFill>
            <a:srgbClr val="D4E9F7"/>
          </a:solidFill>
          <a:ln cap="flat" cmpd="sng" w="9525">
            <a:solidFill>
              <a:srgbClr val="BACF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8"/>
          <p:cNvSpPr/>
          <p:nvPr/>
        </p:nvSpPr>
        <p:spPr>
          <a:xfrm>
            <a:off x="6062305" y="3012162"/>
            <a:ext cx="7992189" cy="948809"/>
          </a:xfrm>
          <a:prstGeom prst="roundRect">
            <a:avLst>
              <a:gd fmla="val 25672" name="adj"/>
            </a:avLst>
          </a:prstGeom>
          <a:solidFill>
            <a:srgbClr val="D4E9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8"/>
          <p:cNvSpPr/>
          <p:nvPr/>
        </p:nvSpPr>
        <p:spPr>
          <a:xfrm>
            <a:off x="6224587" y="3174444"/>
            <a:ext cx="2648903" cy="2670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650"/>
              <a:buFont typeface="Barlow"/>
              <a:buNone/>
            </a:pPr>
            <a:r>
              <a:rPr b="1" i="0" lang="en-US" sz="1650" u="none" cap="none" strike="noStrike">
                <a:solidFill>
                  <a:srgbClr val="384653"/>
                </a:solidFill>
                <a:latin typeface="Barlow"/>
                <a:ea typeface="Barlow"/>
                <a:cs typeface="Barlow"/>
                <a:sym typeface="Barlow"/>
              </a:rPr>
              <a:t>Минимальные затраты</a:t>
            </a:r>
            <a:endParaRPr b="0" i="0" sz="1650" u="none" cap="none" strike="noStrike"/>
          </a:p>
        </p:txBody>
      </p:sp>
      <p:sp>
        <p:nvSpPr>
          <p:cNvPr id="190" name="Google Shape;190;p18"/>
          <p:cNvSpPr/>
          <p:nvPr/>
        </p:nvSpPr>
        <p:spPr>
          <a:xfrm>
            <a:off x="6224587" y="3538895"/>
            <a:ext cx="7667625" cy="2597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250"/>
              <a:buFont typeface="Montserrat"/>
              <a:buNone/>
            </a:pPr>
            <a:r>
              <a:rPr b="0" i="0" lang="en-US" sz="125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Разработка и поддержка.</a:t>
            </a:r>
            <a:endParaRPr b="0" i="0" sz="1250" u="none" cap="none" strike="noStrike"/>
          </a:p>
        </p:txBody>
      </p:sp>
      <p:sp>
        <p:nvSpPr>
          <p:cNvPr id="191" name="Google Shape;191;p18"/>
          <p:cNvSpPr/>
          <p:nvPr/>
        </p:nvSpPr>
        <p:spPr>
          <a:xfrm>
            <a:off x="6062305" y="3960971"/>
            <a:ext cx="7992189" cy="948809"/>
          </a:xfrm>
          <a:prstGeom prst="rect">
            <a:avLst/>
          </a:prstGeom>
          <a:solidFill>
            <a:srgbClr val="D4E9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8"/>
          <p:cNvSpPr/>
          <p:nvPr/>
        </p:nvSpPr>
        <p:spPr>
          <a:xfrm>
            <a:off x="6062305" y="3960971"/>
            <a:ext cx="7992189" cy="22860"/>
          </a:xfrm>
          <a:prstGeom prst="roundRect">
            <a:avLst>
              <a:gd fmla="val 1065512" name="adj"/>
            </a:avLst>
          </a:prstGeom>
          <a:solidFill>
            <a:srgbClr val="BACF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8"/>
          <p:cNvSpPr/>
          <p:nvPr/>
        </p:nvSpPr>
        <p:spPr>
          <a:xfrm>
            <a:off x="6224587" y="4123253"/>
            <a:ext cx="2460069" cy="2670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650"/>
              <a:buFont typeface="Barlow"/>
              <a:buNone/>
            </a:pPr>
            <a:r>
              <a:rPr b="1" i="0" lang="en-US" sz="1650" u="none" cap="none" strike="noStrike">
                <a:solidFill>
                  <a:srgbClr val="384653"/>
                </a:solidFill>
                <a:latin typeface="Barlow"/>
                <a:ea typeface="Barlow"/>
                <a:cs typeface="Barlow"/>
                <a:sym typeface="Barlow"/>
              </a:rPr>
              <a:t>Максимальный охват</a:t>
            </a:r>
            <a:endParaRPr b="0" i="0" sz="1650" u="none" cap="none" strike="noStrike"/>
          </a:p>
        </p:txBody>
      </p:sp>
      <p:sp>
        <p:nvSpPr>
          <p:cNvPr id="194" name="Google Shape;194;p18"/>
          <p:cNvSpPr/>
          <p:nvPr/>
        </p:nvSpPr>
        <p:spPr>
          <a:xfrm>
            <a:off x="6224587" y="4487704"/>
            <a:ext cx="7667625" cy="2597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250"/>
              <a:buFont typeface="Montserrat"/>
              <a:buNone/>
            </a:pPr>
            <a:r>
              <a:rPr b="0" i="0" lang="en-US" sz="125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Широкая аудитория Telegram.</a:t>
            </a:r>
            <a:endParaRPr b="0" i="0" sz="1250" u="none" cap="none" strike="noStrike"/>
          </a:p>
        </p:txBody>
      </p:sp>
      <p:sp>
        <p:nvSpPr>
          <p:cNvPr id="195" name="Google Shape;195;p18"/>
          <p:cNvSpPr/>
          <p:nvPr/>
        </p:nvSpPr>
        <p:spPr>
          <a:xfrm>
            <a:off x="6062305" y="4909780"/>
            <a:ext cx="7992189" cy="948809"/>
          </a:xfrm>
          <a:prstGeom prst="rect">
            <a:avLst/>
          </a:prstGeom>
          <a:solidFill>
            <a:srgbClr val="D4E9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8"/>
          <p:cNvSpPr/>
          <p:nvPr/>
        </p:nvSpPr>
        <p:spPr>
          <a:xfrm>
            <a:off x="6062305" y="4909780"/>
            <a:ext cx="7992189" cy="22860"/>
          </a:xfrm>
          <a:prstGeom prst="roundRect">
            <a:avLst>
              <a:gd fmla="val 1065512" name="adj"/>
            </a:avLst>
          </a:prstGeom>
          <a:solidFill>
            <a:srgbClr val="BACF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8"/>
          <p:cNvSpPr/>
          <p:nvPr/>
        </p:nvSpPr>
        <p:spPr>
          <a:xfrm>
            <a:off x="6224587" y="5072063"/>
            <a:ext cx="2282071" cy="2670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650"/>
              <a:buFont typeface="Barlow"/>
              <a:buNone/>
            </a:pPr>
            <a:r>
              <a:rPr b="1" i="0" lang="en-US" sz="1650" u="none" cap="none" strike="noStrike">
                <a:solidFill>
                  <a:srgbClr val="384653"/>
                </a:solidFill>
                <a:latin typeface="Barlow"/>
                <a:ea typeface="Barlow"/>
                <a:cs typeface="Barlow"/>
                <a:sym typeface="Barlow"/>
              </a:rPr>
              <a:t>Удобство и скорость</a:t>
            </a:r>
            <a:endParaRPr b="0" i="0" sz="1650" u="none" cap="none" strike="noStrike"/>
          </a:p>
        </p:txBody>
      </p:sp>
      <p:sp>
        <p:nvSpPr>
          <p:cNvPr id="198" name="Google Shape;198;p18"/>
          <p:cNvSpPr/>
          <p:nvPr/>
        </p:nvSpPr>
        <p:spPr>
          <a:xfrm>
            <a:off x="6224587" y="5436513"/>
            <a:ext cx="7667625" cy="2597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250"/>
              <a:buFont typeface="Montserrat"/>
              <a:buNone/>
            </a:pPr>
            <a:r>
              <a:rPr b="0" i="0" lang="en-US" sz="125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Для конечных пользователей.</a:t>
            </a:r>
            <a:endParaRPr b="0" i="0" sz="1250" u="none" cap="none" strike="noStrike"/>
          </a:p>
        </p:txBody>
      </p:sp>
      <p:sp>
        <p:nvSpPr>
          <p:cNvPr id="199" name="Google Shape;199;p18"/>
          <p:cNvSpPr/>
          <p:nvPr/>
        </p:nvSpPr>
        <p:spPr>
          <a:xfrm>
            <a:off x="6062305" y="5858589"/>
            <a:ext cx="7992189" cy="948809"/>
          </a:xfrm>
          <a:prstGeom prst="rect">
            <a:avLst/>
          </a:prstGeom>
          <a:solidFill>
            <a:srgbClr val="D4E9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8"/>
          <p:cNvSpPr/>
          <p:nvPr/>
        </p:nvSpPr>
        <p:spPr>
          <a:xfrm>
            <a:off x="6062305" y="5858589"/>
            <a:ext cx="7992189" cy="22860"/>
          </a:xfrm>
          <a:prstGeom prst="roundRect">
            <a:avLst>
              <a:gd fmla="val 1065512" name="adj"/>
            </a:avLst>
          </a:prstGeom>
          <a:solidFill>
            <a:srgbClr val="BACF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8"/>
          <p:cNvSpPr/>
          <p:nvPr/>
        </p:nvSpPr>
        <p:spPr>
          <a:xfrm>
            <a:off x="6224587" y="6020872"/>
            <a:ext cx="2136577" cy="2670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650"/>
              <a:buFont typeface="Barlow"/>
              <a:buNone/>
            </a:pPr>
            <a:r>
              <a:rPr b="1" i="0" lang="en-US" sz="1650" u="none" cap="none" strike="noStrike">
                <a:solidFill>
                  <a:srgbClr val="384653"/>
                </a:solidFill>
                <a:latin typeface="Barlow"/>
                <a:ea typeface="Barlow"/>
                <a:cs typeface="Barlow"/>
                <a:sym typeface="Barlow"/>
              </a:rPr>
              <a:t>Простое решение</a:t>
            </a:r>
            <a:endParaRPr b="0" i="0" sz="1650" u="none" cap="none" strike="noStrike"/>
          </a:p>
        </p:txBody>
      </p:sp>
      <p:sp>
        <p:nvSpPr>
          <p:cNvPr id="202" name="Google Shape;202;p18"/>
          <p:cNvSpPr/>
          <p:nvPr/>
        </p:nvSpPr>
        <p:spPr>
          <a:xfrm>
            <a:off x="6224587" y="6385322"/>
            <a:ext cx="7667625" cy="2597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250"/>
              <a:buFont typeface="Montserrat"/>
              <a:buNone/>
            </a:pPr>
            <a:r>
              <a:rPr b="0" i="0" lang="en-US" sz="125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Веб-календарь как пример эффективного планирования.</a:t>
            </a:r>
            <a:endParaRPr b="0" i="0" sz="1250" u="none" cap="none" strike="noStrike"/>
          </a:p>
        </p:txBody>
      </p:sp>
      <p:sp>
        <p:nvSpPr>
          <p:cNvPr id="203" name="Google Shape;203;p18"/>
          <p:cNvSpPr/>
          <p:nvPr/>
        </p:nvSpPr>
        <p:spPr>
          <a:xfrm>
            <a:off x="6054685" y="6997660"/>
            <a:ext cx="8007429" cy="5195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250"/>
              <a:buFont typeface="Montserrat"/>
              <a:buNone/>
            </a:pPr>
            <a:r>
              <a:rPr b="0" i="0" lang="en-US" sz="1250" u="none" cap="none" strike="noStrik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Время использовать возможности Telegram Web Apps для вашего бизнеса и личной продуктивности!</a:t>
            </a:r>
            <a:endParaRPr b="0" i="0" sz="1250" u="none" cap="none" strike="noStrike"/>
          </a:p>
        </p:txBody>
      </p:sp>
      <p:sp>
        <p:nvSpPr>
          <p:cNvPr id="204" name="Google Shape;204;p18"/>
          <p:cNvSpPr/>
          <p:nvPr/>
        </p:nvSpPr>
        <p:spPr>
          <a:xfrm>
            <a:off x="12865825" y="7739600"/>
            <a:ext cx="1764600" cy="489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